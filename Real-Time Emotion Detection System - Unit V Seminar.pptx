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2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82296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" name="Shape 1"/>
          <p:cNvSpPr/>
          <p:nvPr/>
        </p:nvSpPr>
        <p:spPr>
          <a:xfrm>
            <a:off x="8522208" y="82296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" name="Shape 2"/>
          <p:cNvSpPr/>
          <p:nvPr/>
        </p:nvSpPr>
        <p:spPr>
          <a:xfrm>
            <a:off x="8906256" y="82296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" name="Shape 3"/>
          <p:cNvSpPr/>
          <p:nvPr/>
        </p:nvSpPr>
        <p:spPr>
          <a:xfrm>
            <a:off x="9290304" y="82296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6" name="Shape 4"/>
          <p:cNvSpPr/>
          <p:nvPr/>
        </p:nvSpPr>
        <p:spPr>
          <a:xfrm>
            <a:off x="9674352" y="82296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7" name="Shape 5"/>
          <p:cNvSpPr/>
          <p:nvPr/>
        </p:nvSpPr>
        <p:spPr>
          <a:xfrm>
            <a:off x="10058400" y="82296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8" name="Shape 6"/>
          <p:cNvSpPr/>
          <p:nvPr/>
        </p:nvSpPr>
        <p:spPr>
          <a:xfrm>
            <a:off x="10442448" y="82296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9" name="Shape 7"/>
          <p:cNvSpPr/>
          <p:nvPr/>
        </p:nvSpPr>
        <p:spPr>
          <a:xfrm>
            <a:off x="10826496" y="82296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0" name="Shape 8"/>
          <p:cNvSpPr/>
          <p:nvPr/>
        </p:nvSpPr>
        <p:spPr>
          <a:xfrm>
            <a:off x="8138160" y="120700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1" name="Shape 9"/>
          <p:cNvSpPr/>
          <p:nvPr/>
        </p:nvSpPr>
        <p:spPr>
          <a:xfrm>
            <a:off x="8522208" y="120700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2" name="Shape 10"/>
          <p:cNvSpPr/>
          <p:nvPr/>
        </p:nvSpPr>
        <p:spPr>
          <a:xfrm>
            <a:off x="8906256" y="120700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3" name="Shape 11"/>
          <p:cNvSpPr/>
          <p:nvPr/>
        </p:nvSpPr>
        <p:spPr>
          <a:xfrm>
            <a:off x="9290304" y="120700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4" name="Shape 12"/>
          <p:cNvSpPr/>
          <p:nvPr/>
        </p:nvSpPr>
        <p:spPr>
          <a:xfrm>
            <a:off x="9674352" y="120700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5" name="Shape 13"/>
          <p:cNvSpPr/>
          <p:nvPr/>
        </p:nvSpPr>
        <p:spPr>
          <a:xfrm>
            <a:off x="10058400" y="120700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6" name="Shape 14"/>
          <p:cNvSpPr/>
          <p:nvPr/>
        </p:nvSpPr>
        <p:spPr>
          <a:xfrm>
            <a:off x="10442448" y="120700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7" name="Shape 15"/>
          <p:cNvSpPr/>
          <p:nvPr/>
        </p:nvSpPr>
        <p:spPr>
          <a:xfrm>
            <a:off x="10826496" y="120700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8" name="Shape 16"/>
          <p:cNvSpPr/>
          <p:nvPr/>
        </p:nvSpPr>
        <p:spPr>
          <a:xfrm>
            <a:off x="8138160" y="159105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19" name="Shape 17"/>
          <p:cNvSpPr/>
          <p:nvPr/>
        </p:nvSpPr>
        <p:spPr>
          <a:xfrm>
            <a:off x="8522208" y="159105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0" name="Shape 18"/>
          <p:cNvSpPr/>
          <p:nvPr/>
        </p:nvSpPr>
        <p:spPr>
          <a:xfrm>
            <a:off x="8906256" y="159105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1" name="Shape 19"/>
          <p:cNvSpPr/>
          <p:nvPr/>
        </p:nvSpPr>
        <p:spPr>
          <a:xfrm>
            <a:off x="9290304" y="159105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2" name="Shape 20"/>
          <p:cNvSpPr/>
          <p:nvPr/>
        </p:nvSpPr>
        <p:spPr>
          <a:xfrm>
            <a:off x="9674352" y="159105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3" name="Shape 21"/>
          <p:cNvSpPr/>
          <p:nvPr/>
        </p:nvSpPr>
        <p:spPr>
          <a:xfrm>
            <a:off x="10058400" y="159105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4" name="Shape 22"/>
          <p:cNvSpPr/>
          <p:nvPr/>
        </p:nvSpPr>
        <p:spPr>
          <a:xfrm>
            <a:off x="10442448" y="159105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5" name="Shape 23"/>
          <p:cNvSpPr/>
          <p:nvPr/>
        </p:nvSpPr>
        <p:spPr>
          <a:xfrm>
            <a:off x="10826496" y="159105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6" name="Shape 24"/>
          <p:cNvSpPr/>
          <p:nvPr/>
        </p:nvSpPr>
        <p:spPr>
          <a:xfrm>
            <a:off x="8138160" y="1975104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7" name="Shape 25"/>
          <p:cNvSpPr/>
          <p:nvPr/>
        </p:nvSpPr>
        <p:spPr>
          <a:xfrm>
            <a:off x="8522208" y="1975104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8" name="Shape 26"/>
          <p:cNvSpPr/>
          <p:nvPr/>
        </p:nvSpPr>
        <p:spPr>
          <a:xfrm>
            <a:off x="8906256" y="1975104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29" name="Shape 27"/>
          <p:cNvSpPr/>
          <p:nvPr/>
        </p:nvSpPr>
        <p:spPr>
          <a:xfrm>
            <a:off x="9290304" y="1975104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0" name="Shape 28"/>
          <p:cNvSpPr/>
          <p:nvPr/>
        </p:nvSpPr>
        <p:spPr>
          <a:xfrm>
            <a:off x="9674352" y="1975104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1" name="Shape 29"/>
          <p:cNvSpPr/>
          <p:nvPr/>
        </p:nvSpPr>
        <p:spPr>
          <a:xfrm>
            <a:off x="10058400" y="1975104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2" name="Shape 30"/>
          <p:cNvSpPr/>
          <p:nvPr/>
        </p:nvSpPr>
        <p:spPr>
          <a:xfrm>
            <a:off x="10442448" y="1975104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3" name="Shape 31"/>
          <p:cNvSpPr/>
          <p:nvPr/>
        </p:nvSpPr>
        <p:spPr>
          <a:xfrm>
            <a:off x="10826496" y="1975104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4" name="Shape 32"/>
          <p:cNvSpPr/>
          <p:nvPr/>
        </p:nvSpPr>
        <p:spPr>
          <a:xfrm>
            <a:off x="8138160" y="2359152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5" name="Shape 33"/>
          <p:cNvSpPr/>
          <p:nvPr/>
        </p:nvSpPr>
        <p:spPr>
          <a:xfrm>
            <a:off x="8522208" y="2359152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6" name="Shape 34"/>
          <p:cNvSpPr/>
          <p:nvPr/>
        </p:nvSpPr>
        <p:spPr>
          <a:xfrm>
            <a:off x="8906256" y="2359152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7" name="Shape 35"/>
          <p:cNvSpPr/>
          <p:nvPr/>
        </p:nvSpPr>
        <p:spPr>
          <a:xfrm>
            <a:off x="9290304" y="2359152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8" name="Shape 36"/>
          <p:cNvSpPr/>
          <p:nvPr/>
        </p:nvSpPr>
        <p:spPr>
          <a:xfrm>
            <a:off x="9674352" y="2359152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39" name="Shape 37"/>
          <p:cNvSpPr/>
          <p:nvPr/>
        </p:nvSpPr>
        <p:spPr>
          <a:xfrm>
            <a:off x="10058400" y="2359152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0" name="Shape 38"/>
          <p:cNvSpPr/>
          <p:nvPr/>
        </p:nvSpPr>
        <p:spPr>
          <a:xfrm>
            <a:off x="10442448" y="2359152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1" name="Shape 39"/>
          <p:cNvSpPr/>
          <p:nvPr/>
        </p:nvSpPr>
        <p:spPr>
          <a:xfrm>
            <a:off x="10826496" y="2359152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2" name="Shape 40"/>
          <p:cNvSpPr/>
          <p:nvPr/>
        </p:nvSpPr>
        <p:spPr>
          <a:xfrm>
            <a:off x="8138160" y="274320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3" name="Shape 41"/>
          <p:cNvSpPr/>
          <p:nvPr/>
        </p:nvSpPr>
        <p:spPr>
          <a:xfrm>
            <a:off x="8522208" y="274320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4" name="Shape 42"/>
          <p:cNvSpPr/>
          <p:nvPr/>
        </p:nvSpPr>
        <p:spPr>
          <a:xfrm>
            <a:off x="8906256" y="274320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5" name="Shape 43"/>
          <p:cNvSpPr/>
          <p:nvPr/>
        </p:nvSpPr>
        <p:spPr>
          <a:xfrm>
            <a:off x="9290304" y="274320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6" name="Shape 44"/>
          <p:cNvSpPr/>
          <p:nvPr/>
        </p:nvSpPr>
        <p:spPr>
          <a:xfrm>
            <a:off x="9674352" y="274320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7" name="Shape 45"/>
          <p:cNvSpPr/>
          <p:nvPr/>
        </p:nvSpPr>
        <p:spPr>
          <a:xfrm>
            <a:off x="10058400" y="274320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8" name="Shape 46"/>
          <p:cNvSpPr/>
          <p:nvPr/>
        </p:nvSpPr>
        <p:spPr>
          <a:xfrm>
            <a:off x="10442448" y="274320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49" name="Shape 47"/>
          <p:cNvSpPr/>
          <p:nvPr/>
        </p:nvSpPr>
        <p:spPr>
          <a:xfrm>
            <a:off x="10826496" y="2743200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0" name="Shape 48"/>
          <p:cNvSpPr/>
          <p:nvPr/>
        </p:nvSpPr>
        <p:spPr>
          <a:xfrm>
            <a:off x="8138160" y="312724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1" name="Shape 49"/>
          <p:cNvSpPr/>
          <p:nvPr/>
        </p:nvSpPr>
        <p:spPr>
          <a:xfrm>
            <a:off x="8522208" y="312724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2" name="Shape 50"/>
          <p:cNvSpPr/>
          <p:nvPr/>
        </p:nvSpPr>
        <p:spPr>
          <a:xfrm>
            <a:off x="8906256" y="312724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3" name="Shape 51"/>
          <p:cNvSpPr/>
          <p:nvPr/>
        </p:nvSpPr>
        <p:spPr>
          <a:xfrm>
            <a:off x="9290304" y="312724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4" name="Shape 52"/>
          <p:cNvSpPr/>
          <p:nvPr/>
        </p:nvSpPr>
        <p:spPr>
          <a:xfrm>
            <a:off x="9674352" y="312724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5" name="Shape 53"/>
          <p:cNvSpPr/>
          <p:nvPr/>
        </p:nvSpPr>
        <p:spPr>
          <a:xfrm>
            <a:off x="10058400" y="312724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6" name="Shape 54"/>
          <p:cNvSpPr/>
          <p:nvPr/>
        </p:nvSpPr>
        <p:spPr>
          <a:xfrm>
            <a:off x="10442448" y="312724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7" name="Shape 55"/>
          <p:cNvSpPr/>
          <p:nvPr/>
        </p:nvSpPr>
        <p:spPr>
          <a:xfrm>
            <a:off x="10826496" y="3127248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8" name="Shape 56"/>
          <p:cNvSpPr/>
          <p:nvPr/>
        </p:nvSpPr>
        <p:spPr>
          <a:xfrm>
            <a:off x="8138160" y="351129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59" name="Shape 57"/>
          <p:cNvSpPr/>
          <p:nvPr/>
        </p:nvSpPr>
        <p:spPr>
          <a:xfrm>
            <a:off x="8522208" y="351129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60" name="Shape 58"/>
          <p:cNvSpPr/>
          <p:nvPr/>
        </p:nvSpPr>
        <p:spPr>
          <a:xfrm>
            <a:off x="8906256" y="351129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61" name="Shape 59"/>
          <p:cNvSpPr/>
          <p:nvPr/>
        </p:nvSpPr>
        <p:spPr>
          <a:xfrm>
            <a:off x="9290304" y="351129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62" name="Shape 60"/>
          <p:cNvSpPr/>
          <p:nvPr/>
        </p:nvSpPr>
        <p:spPr>
          <a:xfrm>
            <a:off x="9674352" y="351129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63" name="Shape 61"/>
          <p:cNvSpPr/>
          <p:nvPr/>
        </p:nvSpPr>
        <p:spPr>
          <a:xfrm>
            <a:off x="10058400" y="351129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64" name="Shape 62"/>
          <p:cNvSpPr/>
          <p:nvPr/>
        </p:nvSpPr>
        <p:spPr>
          <a:xfrm>
            <a:off x="10442448" y="351129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65" name="Shape 63"/>
          <p:cNvSpPr/>
          <p:nvPr/>
        </p:nvSpPr>
        <p:spPr>
          <a:xfrm>
            <a:off x="10826496" y="3511296"/>
            <a:ext cx="45720" cy="45720"/>
          </a:xfrm>
          <a:prstGeom prst="ellipse">
            <a:avLst/>
          </a:prstGeom>
          <a:solidFill>
            <a:srgbClr val="283467"/>
          </a:solidFill>
        </p:spPr>
      </p:sp>
      <p:sp>
        <p:nvSpPr>
          <p:cNvPr id="66" name="Shape 64"/>
          <p:cNvSpPr/>
          <p:nvPr/>
        </p:nvSpPr>
        <p:spPr>
          <a:xfrm>
            <a:off x="8275320" y="2148840"/>
            <a:ext cx="2834640" cy="2834640"/>
          </a:xfrm>
          <a:prstGeom prst="ellipse">
            <a:avLst/>
          </a:prstGeom>
          <a:ln w="31750">
            <a:solidFill>
              <a:srgbClr val="3AC7C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13902" y="2687422"/>
            <a:ext cx="1757477" cy="1757477"/>
          </a:xfrm>
          <a:prstGeom prst="ellipse">
            <a:avLst/>
          </a:prstGeom>
          <a:ln w="12700">
            <a:solidFill>
              <a:srgbClr val="3AC7C0"/>
            </a:solidFill>
            <a:prstDash val="sysDot"/>
          </a:ln>
        </p:spPr>
      </p:sp>
      <p:sp>
        <p:nvSpPr>
          <p:cNvPr id="68" name="Shape 66"/>
          <p:cNvSpPr/>
          <p:nvPr/>
        </p:nvSpPr>
        <p:spPr>
          <a:xfrm>
            <a:off x="9144000" y="3200400"/>
            <a:ext cx="91440" cy="91440"/>
          </a:xfrm>
          <a:prstGeom prst="ellipse">
            <a:avLst/>
          </a:prstGeom>
          <a:solidFill>
            <a:srgbClr val="3AC7C0"/>
          </a:solidFill>
        </p:spPr>
      </p:sp>
      <p:sp>
        <p:nvSpPr>
          <p:cNvPr id="69" name="Shape 67"/>
          <p:cNvSpPr/>
          <p:nvPr/>
        </p:nvSpPr>
        <p:spPr>
          <a:xfrm>
            <a:off x="10149840" y="3200400"/>
            <a:ext cx="91440" cy="91440"/>
          </a:xfrm>
          <a:prstGeom prst="ellipse">
            <a:avLst/>
          </a:prstGeom>
          <a:solidFill>
            <a:srgbClr val="3AC7C0"/>
          </a:solidFill>
        </p:spPr>
      </p:sp>
      <p:sp>
        <p:nvSpPr>
          <p:cNvPr id="70" name="Shape 68"/>
          <p:cNvSpPr/>
          <p:nvPr/>
        </p:nvSpPr>
        <p:spPr>
          <a:xfrm>
            <a:off x="9646920" y="3566160"/>
            <a:ext cx="91440" cy="91440"/>
          </a:xfrm>
          <a:prstGeom prst="ellipse">
            <a:avLst/>
          </a:prstGeom>
          <a:solidFill>
            <a:srgbClr val="3AC7C0"/>
          </a:solidFill>
        </p:spPr>
      </p:sp>
      <p:sp>
        <p:nvSpPr>
          <p:cNvPr id="71" name="Shape 69"/>
          <p:cNvSpPr/>
          <p:nvPr/>
        </p:nvSpPr>
        <p:spPr>
          <a:xfrm>
            <a:off x="9189720" y="4114800"/>
            <a:ext cx="91440" cy="91440"/>
          </a:xfrm>
          <a:prstGeom prst="ellipse">
            <a:avLst/>
          </a:prstGeom>
          <a:solidFill>
            <a:srgbClr val="3AC7C0"/>
          </a:solidFill>
        </p:spPr>
      </p:sp>
      <p:sp>
        <p:nvSpPr>
          <p:cNvPr id="72" name="Shape 70"/>
          <p:cNvSpPr/>
          <p:nvPr/>
        </p:nvSpPr>
        <p:spPr>
          <a:xfrm>
            <a:off x="10104120" y="4114800"/>
            <a:ext cx="91440" cy="91440"/>
          </a:xfrm>
          <a:prstGeom prst="ellipse">
            <a:avLst/>
          </a:prstGeom>
          <a:solidFill>
            <a:srgbClr val="3AC7C0"/>
          </a:solidFill>
        </p:spPr>
      </p:sp>
      <p:sp>
        <p:nvSpPr>
          <p:cNvPr id="73" name="Shape 71"/>
          <p:cNvSpPr/>
          <p:nvPr/>
        </p:nvSpPr>
        <p:spPr>
          <a:xfrm>
            <a:off x="9646920" y="4206240"/>
            <a:ext cx="91440" cy="91440"/>
          </a:xfrm>
          <a:prstGeom prst="ellipse">
            <a:avLst/>
          </a:prstGeom>
          <a:solidFill>
            <a:srgbClr val="3AC7C0"/>
          </a:solidFill>
        </p:spPr>
      </p:sp>
      <p:sp>
        <p:nvSpPr>
          <p:cNvPr id="74" name="Shape 72"/>
          <p:cNvSpPr/>
          <p:nvPr/>
        </p:nvSpPr>
        <p:spPr>
          <a:xfrm>
            <a:off x="9189720" y="3246120"/>
            <a:ext cx="1005840" cy="9144"/>
          </a:xfrm>
          <a:prstGeom prst="line">
            <a:avLst/>
          </a:prstGeom>
          <a:noFill/>
          <a:ln w="12700">
            <a:solidFill>
              <a:srgbClr val="1E8B8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89720" y="3246120"/>
            <a:ext cx="502920" cy="365760"/>
          </a:xfrm>
          <a:prstGeom prst="line">
            <a:avLst/>
          </a:prstGeom>
          <a:noFill/>
          <a:ln w="12700">
            <a:solidFill>
              <a:srgbClr val="1E8B8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92640" y="3246120"/>
            <a:ext cx="502920" cy="365760"/>
          </a:xfrm>
          <a:prstGeom prst="line">
            <a:avLst/>
          </a:prstGeom>
          <a:noFill/>
          <a:ln w="12700">
            <a:solidFill>
              <a:srgbClr val="1E8B8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35440" y="3611880"/>
            <a:ext cx="457200" cy="548640"/>
          </a:xfrm>
          <a:prstGeom prst="line">
            <a:avLst/>
          </a:prstGeom>
          <a:noFill/>
          <a:ln w="12700">
            <a:solidFill>
              <a:srgbClr val="1E8B8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692640" y="3611880"/>
            <a:ext cx="457200" cy="548640"/>
          </a:xfrm>
          <a:prstGeom prst="line">
            <a:avLst/>
          </a:prstGeom>
          <a:noFill/>
          <a:ln w="12700">
            <a:solidFill>
              <a:srgbClr val="1E8B8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35440" y="4160520"/>
            <a:ext cx="457200" cy="91440"/>
          </a:xfrm>
          <a:prstGeom prst="line">
            <a:avLst/>
          </a:prstGeom>
          <a:noFill/>
          <a:ln w="12700">
            <a:solidFill>
              <a:srgbClr val="1E8B8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692640" y="4160520"/>
            <a:ext cx="457200" cy="91440"/>
          </a:xfrm>
          <a:prstGeom prst="line">
            <a:avLst/>
          </a:prstGeom>
          <a:noFill/>
          <a:ln w="12700">
            <a:solidFill>
              <a:srgbClr val="1E8B8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275320" y="4480560"/>
            <a:ext cx="2834640" cy="0"/>
          </a:xfrm>
          <a:prstGeom prst="line">
            <a:avLst/>
          </a:prstGeom>
          <a:noFill/>
          <a:ln w="25400">
            <a:solidFill>
              <a:srgbClr val="3AC7C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69680" y="5120640"/>
            <a:ext cx="1645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AC7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SCAN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AC7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PRESENTATION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640080" y="1874520"/>
            <a:ext cx="768096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Emotion Detection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Using Artificial Intelligence</a:t>
            </a:r>
            <a:endParaRPr lang="en-US" sz="4000" dirty="0"/>
          </a:p>
        </p:txBody>
      </p:sp>
      <p:sp>
        <p:nvSpPr>
          <p:cNvPr id="85" name="Shape 83"/>
          <p:cNvSpPr/>
          <p:nvPr/>
        </p:nvSpPr>
        <p:spPr>
          <a:xfrm>
            <a:off x="658368" y="4160520"/>
            <a:ext cx="822960" cy="54864"/>
          </a:xfrm>
          <a:prstGeom prst="rect">
            <a:avLst/>
          </a:prstGeom>
          <a:solidFill>
            <a:srgbClr val="3AC7C0"/>
          </a:solidFill>
        </p:spPr>
      </p:sp>
      <p:sp>
        <p:nvSpPr>
          <p:cNvPr id="86" name="Text 84"/>
          <p:cNvSpPr/>
          <p:nvPr/>
        </p:nvSpPr>
        <p:spPr>
          <a:xfrm>
            <a:off x="640080" y="4343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Course — Unit V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1371600" y="4800600"/>
            <a:ext cx="6400800" cy="65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Facial Expression Analysis · Computer Vision · Deep Learning</a:t>
            </a: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Course – Unit V  |  Real-Time Emotion Detection System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00" dirty="0"/>
          </a:p>
        </p:txBody>
      </p:sp>
      <p:sp>
        <p:nvSpPr>
          <p:cNvPr id="90" name="Text Box 89"/>
          <p:cNvSpPr txBox="1"/>
          <p:nvPr/>
        </p:nvSpPr>
        <p:spPr>
          <a:xfrm>
            <a:off x="661670" y="5328285"/>
            <a:ext cx="3923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bg1"/>
                </a:solidFill>
              </a:rPr>
              <a:t>VISHAL P (192512340)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685" y="0"/>
            <a:ext cx="42786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emotion detection through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3AC7C0"/>
          </a:solidFill>
        </p:spPr>
      </p:sp>
      <p:sp>
        <p:nvSpPr>
          <p:cNvPr id="5" name="Text 3"/>
          <p:cNvSpPr/>
          <p:nvPr/>
        </p:nvSpPr>
        <p:spPr>
          <a:xfrm>
            <a:off x="777240" y="1273175"/>
            <a:ext cx="6126480" cy="528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Emotion Detection?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1801495"/>
            <a:ext cx="612648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process of identifying a person’s emotional state using visual, vocal, or physiological signals.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03250" y="2834767"/>
            <a:ext cx="54864" cy="777240"/>
          </a:xfrm>
          <a:prstGeom prst="rect">
            <a:avLst/>
          </a:prstGeom>
          <a:solidFill>
            <a:srgbClr val="3AC7C0"/>
          </a:solidFill>
        </p:spPr>
      </p:sp>
      <p:sp>
        <p:nvSpPr>
          <p:cNvPr id="8" name="Text 6"/>
          <p:cNvSpPr/>
          <p:nvPr/>
        </p:nvSpPr>
        <p:spPr>
          <a:xfrm>
            <a:off x="777240" y="2314575"/>
            <a:ext cx="6126480" cy="1045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Facial Emotion Recognition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665095"/>
            <a:ext cx="6126480" cy="13265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branch of emotion detection that uses facial expressions captured by a camera to infer emotion.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8640" y="4064889"/>
            <a:ext cx="54864" cy="777240"/>
          </a:xfrm>
          <a:prstGeom prst="rect">
            <a:avLst/>
          </a:prstGeom>
          <a:solidFill>
            <a:srgbClr val="3AC7C0"/>
          </a:solidFill>
        </p:spPr>
      </p:sp>
      <p:sp>
        <p:nvSpPr>
          <p:cNvPr id="11" name="Text 9"/>
          <p:cNvSpPr/>
          <p:nvPr/>
        </p:nvSpPr>
        <p:spPr>
          <a:xfrm>
            <a:off x="777240" y="3364865"/>
            <a:ext cx="6126480" cy="1089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AI Identifies Emotion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3933190"/>
            <a:ext cx="6126480" cy="909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analyzes facial features — eyes, eyebrows, mouth — and matches patterns learned from training data.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5097780"/>
            <a:ext cx="6400800" cy="1427480"/>
          </a:xfrm>
          <a:prstGeom prst="roundRect">
            <a:avLst>
              <a:gd name="adj" fmla="val 8421"/>
            </a:avLst>
          </a:prstGeom>
          <a:solidFill>
            <a:srgbClr val="141B3C"/>
          </a:solidFill>
        </p:spPr>
      </p:sp>
      <p:sp>
        <p:nvSpPr>
          <p:cNvPr id="14" name="Text 12"/>
          <p:cNvSpPr/>
          <p:nvPr/>
        </p:nvSpPr>
        <p:spPr>
          <a:xfrm>
            <a:off x="777240" y="5146040"/>
            <a:ext cx="5943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C7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Real-Time Matters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7240" y="5174615"/>
            <a:ext cx="5943600" cy="14738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feedback enables systems to react immediately — improving learning, healthcare monitoring, and human-computer interaction as emotions happen.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1325880"/>
            <a:ext cx="4297680" cy="434340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27000" dist="38100" dir="5400000" algn="bl" rotWithShape="0">
              <a:srgbClr val="0B0F2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35240" y="1490472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Core Emotions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35240" y="1792224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Recognized from facial expressions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95844" y="2340864"/>
            <a:ext cx="713232" cy="713232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0" name="Image 0" descr="/home/claude/emo/icons/emo_happ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4152" y="2519172"/>
            <a:ext cx="356616" cy="35661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612380" y="30815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Happy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770364" y="2340864"/>
            <a:ext cx="713232" cy="713232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3" name="Image 1" descr="/home/claude/emo/icons/emo_s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2519172"/>
            <a:ext cx="356616" cy="35661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486900" y="308152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Sad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7895844" y="3456432"/>
            <a:ext cx="713232" cy="713232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6" name="Image 2" descr="/home/claude/emo/icons/emo_ang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3634740"/>
            <a:ext cx="356616" cy="3566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612380" y="419709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Angry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9770364" y="3456432"/>
            <a:ext cx="713232" cy="713232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9" name="Image 3" descr="/home/claude/emo/icons/emo_f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3634740"/>
            <a:ext cx="356616" cy="35661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486900" y="419709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Fear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895844" y="4572000"/>
            <a:ext cx="713232" cy="713232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32" name="Image 4" descr="/home/claude/emo/icons/emo_surpr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4750308"/>
            <a:ext cx="356616" cy="35661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12380" y="5312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Surprise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9770364" y="4572000"/>
            <a:ext cx="713232" cy="713232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35" name="Image 5" descr="/home/claude/emo/icons/emo_neut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8672" y="4750308"/>
            <a:ext cx="356616" cy="35661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486900" y="531266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Course – Unit V  |  Real-Time Emotion Detection System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Working Principle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system processes a face from camera to result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587475" y="2880360"/>
            <a:ext cx="9016746" cy="0"/>
          </a:xfrm>
          <a:prstGeom prst="line">
            <a:avLst/>
          </a:prstGeom>
          <a:noFill/>
          <a:ln w="25400">
            <a:solidFill>
              <a:srgbClr val="C3C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6308" y="2290572"/>
            <a:ext cx="292608" cy="292608"/>
          </a:xfrm>
          <a:prstGeom prst="ellipse">
            <a:avLst/>
          </a:prstGeom>
          <a:solidFill>
            <a:srgbClr val="3AC7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56308" y="22905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07415" y="2400300"/>
            <a:ext cx="960120" cy="96012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8" name="Image 0" descr="/home/claude/emo/icons/pipe_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7445" y="2640330"/>
            <a:ext cx="480060" cy="480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525012"/>
            <a:ext cx="171190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8825" y="4073525"/>
            <a:ext cx="1657350" cy="1478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live video feed of the user’s face.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434285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B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659657" y="2290572"/>
            <a:ext cx="292608" cy="292608"/>
          </a:xfrm>
          <a:prstGeom prst="ellipse">
            <a:avLst/>
          </a:prstGeom>
          <a:solidFill>
            <a:srgbClr val="3AC7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9657" y="22905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910764" y="2400300"/>
            <a:ext cx="960120" cy="96012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15" name="Image 1" descr="/home/claude/emo/icons/pipe_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794" y="2640330"/>
            <a:ext cx="480060" cy="4800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34869" y="3525012"/>
            <a:ext cx="171190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Face Detection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562225" y="4073525"/>
            <a:ext cx="1657350" cy="127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Locates the face region within each frame.</a:t>
            </a: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237634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B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63007" y="2290572"/>
            <a:ext cx="292608" cy="292608"/>
          </a:xfrm>
          <a:prstGeom prst="ellipse">
            <a:avLst/>
          </a:prstGeom>
          <a:solidFill>
            <a:srgbClr val="3AC7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63007" y="22905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714113" y="2400300"/>
            <a:ext cx="960120" cy="96012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2" name="Image 2" descr="/home/claude/emo/icons/pipe_pr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143" y="2640330"/>
            <a:ext cx="480060" cy="4800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338218" y="3525012"/>
            <a:ext cx="171190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4365625" y="4073525"/>
            <a:ext cx="1657350" cy="147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Crops, aligns, resizes, and normalizes the face.</a:t>
            </a: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040984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B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7266356" y="2290572"/>
            <a:ext cx="292608" cy="292608"/>
          </a:xfrm>
          <a:prstGeom prst="ellipse">
            <a:avLst/>
          </a:prstGeom>
          <a:solidFill>
            <a:srgbClr val="3AC7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266356" y="22905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517462" y="2400300"/>
            <a:ext cx="960120" cy="96012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9" name="Image 3" descr="/home/claude/emo/icons/pipe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92" y="2640330"/>
            <a:ext cx="480060" cy="4800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141568" y="3525012"/>
            <a:ext cx="171190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Deep</a:t>
            </a:r>
            <a:endParaRPr lang="en-US" sz="2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Model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169025" y="4073525"/>
            <a:ext cx="1657350" cy="147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trained CNN analyzes facial features.</a:t>
            </a: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7844333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B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069705" y="2290572"/>
            <a:ext cx="292608" cy="292608"/>
          </a:xfrm>
          <a:prstGeom prst="ellipse">
            <a:avLst/>
          </a:prstGeom>
          <a:solidFill>
            <a:srgbClr val="3AC7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069705" y="22905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320811" y="2400300"/>
            <a:ext cx="960120" cy="96012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36" name="Image 4" descr="/home/claude/emo/icons/pipe_c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841" y="2640330"/>
            <a:ext cx="480060" cy="4800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944917" y="3525012"/>
            <a:ext cx="171190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Emotion</a:t>
            </a:r>
            <a:endParaRPr lang="en-US" sz="2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38" name="Text 31"/>
          <p:cNvSpPr/>
          <p:nvPr/>
        </p:nvSpPr>
        <p:spPr>
          <a:xfrm>
            <a:off x="7972425" y="4073525"/>
            <a:ext cx="1657350" cy="1292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Assigns probabilities to each emotion class.</a:t>
            </a: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9647682" y="26974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B8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800" dirty="0"/>
          </a:p>
        </p:txBody>
      </p:sp>
      <p:sp>
        <p:nvSpPr>
          <p:cNvPr id="40" name="Shape 33"/>
          <p:cNvSpPr/>
          <p:nvPr/>
        </p:nvSpPr>
        <p:spPr>
          <a:xfrm>
            <a:off x="10873054" y="2290572"/>
            <a:ext cx="292608" cy="292608"/>
          </a:xfrm>
          <a:prstGeom prst="ellipse">
            <a:avLst/>
          </a:prstGeom>
          <a:solidFill>
            <a:srgbClr val="3AC7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10873054" y="22905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10124161" y="2400300"/>
            <a:ext cx="960120" cy="96012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43" name="Image 5" descr="/home/claude/emo/icons/pipe_res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4191" y="2640330"/>
            <a:ext cx="480060" cy="4800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748266" y="3525012"/>
            <a:ext cx="171190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2000" dirty="0"/>
          </a:p>
        </p:txBody>
      </p:sp>
      <p:sp>
        <p:nvSpPr>
          <p:cNvPr id="45" name="Text 37"/>
          <p:cNvSpPr/>
          <p:nvPr/>
        </p:nvSpPr>
        <p:spPr>
          <a:xfrm>
            <a:off x="9775825" y="4073525"/>
            <a:ext cx="1657350" cy="14839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the predicted emotion in real time.</a:t>
            </a: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Technologies &amp; AI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tools and techniques behind the system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3504" y="1517904"/>
            <a:ext cx="658368" cy="658368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5" name="Image 0" descr="/home/claude/emo/icons/tech_camer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512" y="1675912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99616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Camera / Webcam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371600" y="181051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758184" y="1517904"/>
            <a:ext cx="658368" cy="658368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9" name="Image 1" descr="/home/claude/emo/icons/tech_pyth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192" y="1675912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1499870"/>
            <a:ext cx="2331720" cy="5175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26280" y="181051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" y="2478024"/>
            <a:ext cx="658368" cy="658368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13" name="Image 2" descr="/home/claude/emo/icons/tech_openc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12" y="2636032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459990"/>
            <a:ext cx="233172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OpenCV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371600" y="277063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758184" y="2478024"/>
            <a:ext cx="658368" cy="658368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17" name="Image 3" descr="/home/claude/emo/icons/tech_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192" y="2636032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26280" y="2459990"/>
            <a:ext cx="233172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/ Deep Learning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526280" y="277063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03504" y="3438144"/>
            <a:ext cx="658368" cy="658368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1" name="Image 4" descr="/home/claude/emo/icons/tech_cn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512" y="3596152"/>
            <a:ext cx="342351" cy="34235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3420110"/>
            <a:ext cx="2331720" cy="665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1371600" y="373075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758184" y="3438144"/>
            <a:ext cx="658368" cy="658368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5" name="Image 5" descr="/home/claude/emo/icons/tech_f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6192" y="3596152"/>
            <a:ext cx="342351" cy="34235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526280" y="3420110"/>
            <a:ext cx="2331720" cy="518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Extraction</a:t>
            </a:r>
            <a:endParaRPr lang="en-US" dirty="0"/>
          </a:p>
        </p:txBody>
      </p:sp>
      <p:sp>
        <p:nvSpPr>
          <p:cNvPr id="27" name="Text 19"/>
          <p:cNvSpPr/>
          <p:nvPr/>
        </p:nvSpPr>
        <p:spPr>
          <a:xfrm>
            <a:off x="4526280" y="373075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03504" y="4398264"/>
            <a:ext cx="658368" cy="658368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9" name="Image 6" descr="/home/claude/emo/icons/tech_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512" y="4556272"/>
            <a:ext cx="342351" cy="34235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71600" y="4380230"/>
            <a:ext cx="2331720" cy="676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Prediction</a:t>
            </a:r>
            <a:endParaRPr lang="en-US" dirty="0"/>
          </a:p>
        </p:txBody>
      </p:sp>
      <p:sp>
        <p:nvSpPr>
          <p:cNvPr id="31" name="Text 22"/>
          <p:cNvSpPr/>
          <p:nvPr/>
        </p:nvSpPr>
        <p:spPr>
          <a:xfrm>
            <a:off x="1371600" y="4690872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7178040" y="1417320"/>
            <a:ext cx="4480560" cy="4892040"/>
          </a:xfrm>
          <a:prstGeom prst="roundRect">
            <a:avLst>
              <a:gd name="adj" fmla="val 2041"/>
            </a:avLst>
          </a:prstGeom>
          <a:solidFill>
            <a:srgbClr val="141B3C"/>
          </a:solidFill>
          <a:effectLst>
            <a:outerShdw blurRad="127000" dist="38100" dir="5400000" algn="bl" rotWithShape="0">
              <a:srgbClr val="0B0F24">
                <a:alpha val="20000"/>
              </a:srgbClr>
            </a:outerShdw>
          </a:effectLst>
        </p:spPr>
      </p:sp>
      <p:sp>
        <p:nvSpPr>
          <p:cNvPr id="33" name="Text 24"/>
          <p:cNvSpPr/>
          <p:nvPr/>
        </p:nvSpPr>
        <p:spPr>
          <a:xfrm>
            <a:off x="7452360" y="161848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C7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Architecture (Simplified)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8028432" y="2834640"/>
            <a:ext cx="2779776" cy="0"/>
          </a:xfrm>
          <a:prstGeom prst="line">
            <a:avLst/>
          </a:prstGeom>
          <a:noFill/>
          <a:ln w="19050">
            <a:solidFill>
              <a:srgbClr val="3A4576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7717536" y="2523744"/>
            <a:ext cx="621792" cy="621792"/>
          </a:xfrm>
          <a:prstGeom prst="ellipse">
            <a:avLst/>
          </a:prstGeom>
          <a:solidFill>
            <a:srgbClr val="1E8B86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36" name="Image 7" descr="/home/claude/emo/icons/arch_inp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2984" y="2679192"/>
            <a:ext cx="310896" cy="31089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717536" y="3291840"/>
            <a:ext cx="6217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</a:t>
            </a:r>
            <a:endParaRPr lang="en-US" sz="950" dirty="0"/>
          </a:p>
        </p:txBody>
      </p:sp>
      <p:sp>
        <p:nvSpPr>
          <p:cNvPr id="38" name="Text 28"/>
          <p:cNvSpPr/>
          <p:nvPr/>
        </p:nvSpPr>
        <p:spPr>
          <a:xfrm>
            <a:off x="8174736" y="267004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C7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8412480" y="2523744"/>
            <a:ext cx="621792" cy="621792"/>
          </a:xfrm>
          <a:prstGeom prst="ellipse">
            <a:avLst/>
          </a:prstGeom>
          <a:solidFill>
            <a:srgbClr val="1E8B86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40" name="Image 8" descr="/home/claude/emo/icons/arch_con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7928" y="2679192"/>
            <a:ext cx="310896" cy="31089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412480" y="3291840"/>
            <a:ext cx="6217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Conv.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Layers</a:t>
            </a:r>
            <a:endParaRPr lang="en-US" sz="950" dirty="0"/>
          </a:p>
        </p:txBody>
      </p:sp>
      <p:sp>
        <p:nvSpPr>
          <p:cNvPr id="42" name="Text 31"/>
          <p:cNvSpPr/>
          <p:nvPr/>
        </p:nvSpPr>
        <p:spPr>
          <a:xfrm>
            <a:off x="8869680" y="267004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C7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32"/>
          <p:cNvSpPr/>
          <p:nvPr/>
        </p:nvSpPr>
        <p:spPr>
          <a:xfrm>
            <a:off x="9107424" y="2523744"/>
            <a:ext cx="621792" cy="621792"/>
          </a:xfrm>
          <a:prstGeom prst="ellipse">
            <a:avLst/>
          </a:prstGeom>
          <a:solidFill>
            <a:srgbClr val="1E8B86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44" name="Image 9" descr="/home/claude/emo/icons/arch_poo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2872" y="2679192"/>
            <a:ext cx="310896" cy="310896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107424" y="3291840"/>
            <a:ext cx="6217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Pooling</a:t>
            </a:r>
            <a:endParaRPr lang="en-US" sz="950" dirty="0"/>
          </a:p>
        </p:txBody>
      </p:sp>
      <p:sp>
        <p:nvSpPr>
          <p:cNvPr id="46" name="Text 34"/>
          <p:cNvSpPr/>
          <p:nvPr/>
        </p:nvSpPr>
        <p:spPr>
          <a:xfrm>
            <a:off x="9564624" y="267004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C7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35"/>
          <p:cNvSpPr/>
          <p:nvPr/>
        </p:nvSpPr>
        <p:spPr>
          <a:xfrm>
            <a:off x="9802368" y="2523744"/>
            <a:ext cx="621792" cy="621792"/>
          </a:xfrm>
          <a:prstGeom prst="ellipse">
            <a:avLst/>
          </a:prstGeom>
          <a:solidFill>
            <a:srgbClr val="1E8B86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48" name="Image 10" descr="/home/claude/emo/icons/arch_f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57816" y="2679192"/>
            <a:ext cx="310896" cy="31089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9802368" y="3291840"/>
            <a:ext cx="6217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</a:t>
            </a:r>
            <a:endParaRPr lang="en-US" sz="950" dirty="0"/>
          </a:p>
        </p:txBody>
      </p:sp>
      <p:sp>
        <p:nvSpPr>
          <p:cNvPr id="50" name="Text 37"/>
          <p:cNvSpPr/>
          <p:nvPr/>
        </p:nvSpPr>
        <p:spPr>
          <a:xfrm>
            <a:off x="10259568" y="2670048"/>
            <a:ext cx="3657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C7C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Shape 38"/>
          <p:cNvSpPr/>
          <p:nvPr/>
        </p:nvSpPr>
        <p:spPr>
          <a:xfrm>
            <a:off x="10497312" y="2523744"/>
            <a:ext cx="621792" cy="621792"/>
          </a:xfrm>
          <a:prstGeom prst="ellipse">
            <a:avLst/>
          </a:prstGeom>
          <a:solidFill>
            <a:srgbClr val="1E8B86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52" name="Image 11" descr="/home/claude/emo/icons/arch_ou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52760" y="2679192"/>
            <a:ext cx="310896" cy="310896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10497312" y="3291840"/>
            <a:ext cx="6217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Emotion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950" dirty="0"/>
          </a:p>
        </p:txBody>
      </p:sp>
      <p:sp>
        <p:nvSpPr>
          <p:cNvPr id="54" name="Text 40"/>
          <p:cNvSpPr/>
          <p:nvPr/>
        </p:nvSpPr>
        <p:spPr>
          <a:xfrm>
            <a:off x="7452360" y="3749040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CNN automatically learns discriminative facial patterns — edges, textures, and shapes — across multiple layers, replacing manual feature engineering.</a:t>
            </a:r>
            <a:endParaRPr lang="en-US" sz="1100" dirty="0"/>
          </a:p>
        </p:txBody>
      </p:sp>
      <p:sp>
        <p:nvSpPr>
          <p:cNvPr id="55" name="Shape 41"/>
          <p:cNvSpPr/>
          <p:nvPr/>
        </p:nvSpPr>
        <p:spPr>
          <a:xfrm>
            <a:off x="7452360" y="4754880"/>
            <a:ext cx="1188720" cy="868680"/>
          </a:xfrm>
          <a:prstGeom prst="roundRect">
            <a:avLst>
              <a:gd name="adj" fmla="val 7368"/>
            </a:avLst>
          </a:prstGeom>
          <a:solidFill>
            <a:srgbClr val="1E2A56"/>
          </a:solidFill>
          <a:ln w="12700">
            <a:solidFill>
              <a:srgbClr val="3A4576"/>
            </a:solidFill>
            <a:prstDash val="solid"/>
          </a:ln>
        </p:spPr>
      </p:sp>
      <p:sp>
        <p:nvSpPr>
          <p:cNvPr id="56" name="Text 42"/>
          <p:cNvSpPr/>
          <p:nvPr/>
        </p:nvSpPr>
        <p:spPr>
          <a:xfrm>
            <a:off x="7452360" y="48463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C7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600" dirty="0"/>
          </a:p>
        </p:txBody>
      </p:sp>
      <p:sp>
        <p:nvSpPr>
          <p:cNvPr id="57" name="Text 43"/>
          <p:cNvSpPr/>
          <p:nvPr/>
        </p:nvSpPr>
        <p:spPr>
          <a:xfrm>
            <a:off x="7498080" y="52120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Emotion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Classes</a:t>
            </a:r>
            <a:endParaRPr lang="en-US" sz="900" dirty="0"/>
          </a:p>
        </p:txBody>
      </p:sp>
      <p:sp>
        <p:nvSpPr>
          <p:cNvPr id="58" name="Shape 44"/>
          <p:cNvSpPr/>
          <p:nvPr/>
        </p:nvSpPr>
        <p:spPr>
          <a:xfrm>
            <a:off x="8823960" y="4754880"/>
            <a:ext cx="1188720" cy="868680"/>
          </a:xfrm>
          <a:prstGeom prst="roundRect">
            <a:avLst>
              <a:gd name="adj" fmla="val 7368"/>
            </a:avLst>
          </a:prstGeom>
          <a:solidFill>
            <a:srgbClr val="1E2A56"/>
          </a:solidFill>
          <a:ln w="12700">
            <a:solidFill>
              <a:srgbClr val="3A4576"/>
            </a:solidFill>
            <a:prstDash val="solid"/>
          </a:ln>
        </p:spPr>
      </p:sp>
      <p:sp>
        <p:nvSpPr>
          <p:cNvPr id="59" name="Text 45"/>
          <p:cNvSpPr/>
          <p:nvPr/>
        </p:nvSpPr>
        <p:spPr>
          <a:xfrm>
            <a:off x="8823960" y="48463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C7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≈ 30 fps</a:t>
            </a:r>
            <a:endParaRPr lang="en-US" sz="1600" dirty="0"/>
          </a:p>
        </p:txBody>
      </p:sp>
      <p:sp>
        <p:nvSpPr>
          <p:cNvPr id="60" name="Text 46"/>
          <p:cNvSpPr/>
          <p:nvPr/>
        </p:nvSpPr>
        <p:spPr>
          <a:xfrm>
            <a:off x="8869680" y="52120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Typical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 Rate</a:t>
            </a:r>
            <a:endParaRPr lang="en-US" sz="900" dirty="0"/>
          </a:p>
        </p:txBody>
      </p:sp>
      <p:sp>
        <p:nvSpPr>
          <p:cNvPr id="61" name="Shape 47"/>
          <p:cNvSpPr/>
          <p:nvPr/>
        </p:nvSpPr>
        <p:spPr>
          <a:xfrm>
            <a:off x="10195560" y="4754880"/>
            <a:ext cx="1188720" cy="868680"/>
          </a:xfrm>
          <a:prstGeom prst="roundRect">
            <a:avLst>
              <a:gd name="adj" fmla="val 7368"/>
            </a:avLst>
          </a:prstGeom>
          <a:solidFill>
            <a:srgbClr val="1E2A56"/>
          </a:solidFill>
          <a:ln w="12700">
            <a:solidFill>
              <a:srgbClr val="3A4576"/>
            </a:solidFill>
            <a:prstDash val="solid"/>
          </a:ln>
        </p:spPr>
      </p:sp>
      <p:sp>
        <p:nvSpPr>
          <p:cNvPr id="62" name="Text 48"/>
          <p:cNvSpPr/>
          <p:nvPr/>
        </p:nvSpPr>
        <p:spPr>
          <a:xfrm>
            <a:off x="10195560" y="48463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C7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48×48</a:t>
            </a:r>
            <a:endParaRPr lang="en-US" sz="1600" dirty="0"/>
          </a:p>
        </p:txBody>
      </p:sp>
      <p:sp>
        <p:nvSpPr>
          <p:cNvPr id="63" name="Text 49"/>
          <p:cNvSpPr/>
          <p:nvPr/>
        </p:nvSpPr>
        <p:spPr>
          <a:xfrm>
            <a:off x="10241280" y="52120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Input</a:t>
            </a:r>
            <a:endParaRPr lang="en-US" sz="9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900" dirty="0">
                <a:solidFill>
                  <a:srgbClr val="C7CE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 (px)</a:t>
            </a:r>
            <a:endParaRPr lang="en-US" sz="900" dirty="0"/>
          </a:p>
        </p:txBody>
      </p:sp>
      <p:sp>
        <p:nvSpPr>
          <p:cNvPr id="64" name="Text 5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Course – Unit V  |  Real-Time Emotion Detection System</a:t>
            </a:r>
            <a:endParaRPr lang="en-US" sz="1000" dirty="0"/>
          </a:p>
        </p:txBody>
      </p:sp>
      <p:sp>
        <p:nvSpPr>
          <p:cNvPr id="65" name="Text 5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emotion detection creates real value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8477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5400000" algn="bl" rotWithShape="0">
              <a:srgbClr val="0B0F2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8129" y="1714500"/>
            <a:ext cx="685800" cy="68580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6" name="Image 0" descr="/home/claude/emo/icons/app_edu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579" y="18859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18690"/>
            <a:ext cx="3210560" cy="680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932430"/>
            <a:ext cx="3126105" cy="4260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student engagement and attention during class.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353458" y="1508760"/>
            <a:ext cx="348477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5400000" algn="bl" rotWithShape="0">
              <a:srgbClr val="0B0F2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52948" y="1714500"/>
            <a:ext cx="685800" cy="68580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11" name="Image 1" descr="/home/claude/emo/icons/app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398" y="188595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0618" y="2532888"/>
            <a:ext cx="32104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36338" y="2880360"/>
            <a:ext cx="311901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Assisting in emotion and mood monitoring for patient care.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8158277" y="1508760"/>
            <a:ext cx="348477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5400000" algn="bl" rotWithShape="0">
              <a:srgbClr val="0B0F2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557766" y="1714500"/>
            <a:ext cx="685800" cy="68580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16" name="Image 2" descr="/home/claude/emo/icons/app_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6" y="188595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5437" y="2532888"/>
            <a:ext cx="32104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Service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41157" y="2880360"/>
            <a:ext cx="311901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Analyzing customer reactions to improve service quality.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48477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5400000" algn="bl" rotWithShape="0">
              <a:srgbClr val="0B0F2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948129" y="4000500"/>
            <a:ext cx="685800" cy="68580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1" name="Image 3" descr="/home/claude/emo/icons/app_hc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9579" y="417195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818888"/>
            <a:ext cx="32104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Human–Computer Interaction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1520" y="5166360"/>
            <a:ext cx="311901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digital systems respond naturally to users.</a:t>
            </a:r>
            <a:endParaRPr lang="en-US" dirty="0"/>
          </a:p>
        </p:txBody>
      </p:sp>
      <p:sp>
        <p:nvSpPr>
          <p:cNvPr id="24" name="Shape 18"/>
          <p:cNvSpPr/>
          <p:nvPr/>
        </p:nvSpPr>
        <p:spPr>
          <a:xfrm>
            <a:off x="4353458" y="3794760"/>
            <a:ext cx="348477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5400000" algn="bl" rotWithShape="0">
              <a:srgbClr val="0B0F24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52948" y="4000500"/>
            <a:ext cx="685800" cy="68580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26" name="Image 4" descr="/home/claude/emo/icons/app_sm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398" y="417195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90618" y="4818888"/>
            <a:ext cx="32104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Systems &amp; Assistants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36338" y="5166360"/>
            <a:ext cx="311901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Enabling emotionally aware AI assistants and devices.</a:t>
            </a:r>
            <a:endParaRPr lang="en-US" dirty="0"/>
          </a:p>
        </p:txBody>
      </p:sp>
      <p:sp>
        <p:nvSpPr>
          <p:cNvPr id="29" name="Shape 22"/>
          <p:cNvSpPr/>
          <p:nvPr/>
        </p:nvSpPr>
        <p:spPr>
          <a:xfrm>
            <a:off x="8158277" y="3794760"/>
            <a:ext cx="348477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blurRad="101600" dist="25400" dir="5400000" algn="bl" rotWithShape="0">
              <a:srgbClr val="0B0F24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557766" y="4000500"/>
            <a:ext cx="685800" cy="685800"/>
          </a:xfrm>
          <a:prstGeom prst="ellipse">
            <a:avLst/>
          </a:prstGeom>
          <a:solidFill>
            <a:srgbClr val="141B3C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31" name="Image 5" descr="/home/claude/emo/icons/app_s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9216" y="417195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95437" y="4818888"/>
            <a:ext cx="321045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41157" y="5166360"/>
            <a:ext cx="311901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Supporting user authentication and behavior monitoring.</a:t>
            </a: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Course – Unit V  |  Real-Time Emotion Detection System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Advantages, Limitations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E2A56"/>
          </a:solidFill>
        </p:spPr>
      </p:sp>
      <p:sp>
        <p:nvSpPr>
          <p:cNvPr id="4" name="Shape 2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2FA875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5" name="Image 0" descr="/home/claude/emo/icons/adv_chec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5407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6304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2249424"/>
            <a:ext cx="109728" cy="109728"/>
          </a:xfrm>
          <a:prstGeom prst="ellipse">
            <a:avLst/>
          </a:prstGeom>
          <a:solidFill>
            <a:srgbClr val="2FA875"/>
          </a:solidFill>
        </p:spPr>
      </p:sp>
      <p:sp>
        <p:nvSpPr>
          <p:cNvPr id="8" name="Text 5"/>
          <p:cNvSpPr/>
          <p:nvPr/>
        </p:nvSpPr>
        <p:spPr>
          <a:xfrm>
            <a:off x="1097280" y="212140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analysis of facial expressions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816352"/>
            <a:ext cx="109728" cy="109728"/>
          </a:xfrm>
          <a:prstGeom prst="ellipse">
            <a:avLst/>
          </a:prstGeom>
          <a:solidFill>
            <a:srgbClr val="2FA875"/>
          </a:solidFill>
        </p:spPr>
      </p:sp>
      <p:sp>
        <p:nvSpPr>
          <p:cNvPr id="10" name="Text 7"/>
          <p:cNvSpPr/>
          <p:nvPr/>
        </p:nvSpPr>
        <p:spPr>
          <a:xfrm>
            <a:off x="1097280" y="268833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emotion classification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68680" y="3383280"/>
            <a:ext cx="109728" cy="109728"/>
          </a:xfrm>
          <a:prstGeom prst="ellipse">
            <a:avLst/>
          </a:prstGeom>
          <a:solidFill>
            <a:srgbClr val="2FA875"/>
          </a:solidFill>
        </p:spPr>
      </p:sp>
      <p:sp>
        <p:nvSpPr>
          <p:cNvPr id="12" name="Text 9"/>
          <p:cNvSpPr/>
          <p:nvPr/>
        </p:nvSpPr>
        <p:spPr>
          <a:xfrm>
            <a:off x="1097280" y="3255264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and completely contactless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68680" y="3950208"/>
            <a:ext cx="109728" cy="109728"/>
          </a:xfrm>
          <a:prstGeom prst="ellipse">
            <a:avLst/>
          </a:prstGeom>
          <a:solidFill>
            <a:srgbClr val="2FA875"/>
          </a:solidFill>
        </p:spPr>
      </p:sp>
      <p:sp>
        <p:nvSpPr>
          <p:cNvPr id="14" name="Text 11"/>
          <p:cNvSpPr/>
          <p:nvPr/>
        </p:nvSpPr>
        <p:spPr>
          <a:xfrm>
            <a:off x="1097280" y="38221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Useful foundation for intelligent systems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217920" y="12344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1E2A56"/>
          </a:solidFill>
        </p:spPr>
      </p:sp>
      <p:sp>
        <p:nvSpPr>
          <p:cNvPr id="16" name="Shape 13"/>
          <p:cNvSpPr/>
          <p:nvPr/>
        </p:nvSpPr>
        <p:spPr>
          <a:xfrm>
            <a:off x="6446520" y="1417320"/>
            <a:ext cx="548640" cy="548640"/>
          </a:xfrm>
          <a:prstGeom prst="ellipse">
            <a:avLst/>
          </a:prstGeom>
          <a:solidFill>
            <a:srgbClr val="D98A2B"/>
          </a:solidFill>
          <a:effectLst>
            <a:outerShdw blurRad="101600" dist="38100" dir="5400000" algn="bl" rotWithShape="0">
              <a:srgbClr val="0B0F24">
                <a:alpha val="25000"/>
              </a:srgbClr>
            </a:outerShdw>
          </a:effectLst>
        </p:spPr>
      </p:sp>
      <p:pic>
        <p:nvPicPr>
          <p:cNvPr id="17" name="Image 1" descr="/home/claude/emo/icons/lim_wa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1540764"/>
            <a:ext cx="301752" cy="3017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1463040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537960" y="2249424"/>
            <a:ext cx="109728" cy="109728"/>
          </a:xfrm>
          <a:prstGeom prst="ellipse">
            <a:avLst/>
          </a:prstGeom>
          <a:solidFill>
            <a:srgbClr val="D98A2B"/>
          </a:solidFill>
        </p:spPr>
      </p:sp>
      <p:sp>
        <p:nvSpPr>
          <p:cNvPr id="20" name="Text 16"/>
          <p:cNvSpPr/>
          <p:nvPr/>
        </p:nvSpPr>
        <p:spPr>
          <a:xfrm>
            <a:off x="6766560" y="212140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Lighting and camera quality affect accuracy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6537960" y="2816352"/>
            <a:ext cx="109728" cy="109728"/>
          </a:xfrm>
          <a:prstGeom prst="ellipse">
            <a:avLst/>
          </a:prstGeom>
          <a:solidFill>
            <a:srgbClr val="D98A2B"/>
          </a:solidFill>
        </p:spPr>
      </p:sp>
      <p:sp>
        <p:nvSpPr>
          <p:cNvPr id="22" name="Text 18"/>
          <p:cNvSpPr/>
          <p:nvPr/>
        </p:nvSpPr>
        <p:spPr>
          <a:xfrm>
            <a:off x="6766560" y="2688336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Facial expressions can be ambiguous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6537960" y="3383280"/>
            <a:ext cx="109728" cy="109728"/>
          </a:xfrm>
          <a:prstGeom prst="ellipse">
            <a:avLst/>
          </a:prstGeom>
          <a:solidFill>
            <a:srgbClr val="D98A2B"/>
          </a:solidFill>
        </p:spPr>
      </p:sp>
      <p:sp>
        <p:nvSpPr>
          <p:cNvPr id="24" name="Text 20"/>
          <p:cNvSpPr/>
          <p:nvPr/>
        </p:nvSpPr>
        <p:spPr>
          <a:xfrm>
            <a:off x="6766560" y="3255264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 concerns around facial data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6537960" y="3950208"/>
            <a:ext cx="109728" cy="109728"/>
          </a:xfrm>
          <a:prstGeom prst="ellipse">
            <a:avLst/>
          </a:prstGeom>
          <a:solidFill>
            <a:srgbClr val="D98A2B"/>
          </a:solidFill>
        </p:spPr>
      </p:sp>
      <p:sp>
        <p:nvSpPr>
          <p:cNvPr id="26" name="Text 22"/>
          <p:cNvSpPr/>
          <p:nvPr/>
        </p:nvSpPr>
        <p:spPr>
          <a:xfrm>
            <a:off x="6766560" y="38221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700" dirty="0">
                <a:solidFill>
                  <a:srgbClr val="DCE3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models may carry inherent bias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1E8B86"/>
          </a:solidFill>
        </p:spPr>
      </p:sp>
      <p:pic>
        <p:nvPicPr>
          <p:cNvPr id="28" name="Image 2" descr="/home/claude/emo/icons/concl_qu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37760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63040" y="4882896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7FBF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417320" y="5203190"/>
            <a:ext cx="100885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emotion detection combines computer vision and AI to understand human facial expressions — paving the way for more intelligent and interactive future systems.</a:t>
            </a: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Course – Unit V  |  Real-Time Emotion Detection System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3061</Words>
  <Application>WPS Presentation</Application>
  <PresentationFormat>On-screen Show (16:9)</PresentationFormat>
  <Paragraphs>236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 Vishal</cp:lastModifiedBy>
  <cp:revision>3</cp:revision>
  <dcterms:created xsi:type="dcterms:W3CDTF">2026-08-29T07:46:00Z</dcterms:created>
  <dcterms:modified xsi:type="dcterms:W3CDTF">2026-08-29T08:41:11Z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55E83681BB3D495EBC08611A4829DAB3_13</vt:lpwstr>
  </property>
</Properties>
</file>